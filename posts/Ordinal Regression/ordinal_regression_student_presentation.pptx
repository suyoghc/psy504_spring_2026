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a483664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a483664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knows what a Likert scale is?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</a:t>
            </a:r>
            <a:r>
              <a:rPr lang="en"/>
              <a:t>you</a:t>
            </a:r>
            <a:r>
              <a:rPr lang="en"/>
              <a:t> have data from 3 people…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summarize this data?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summarize it, you could simply sum all 3 together and get the average response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a483664e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a483664e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it’s not that simple – what happens if the Likert scale is not simply a set of numbers? What does an average rating mean in these cases?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a483664e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a483664e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a483664e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a483664e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crucial difference between ordinal data and normal numerical data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a483664e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a483664e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in parentheses with question mark bc </a:t>
            </a:r>
            <a:r>
              <a:rPr lang="en"/>
              <a:t>they</a:t>
            </a:r>
            <a:r>
              <a:rPr lang="en"/>
              <a:t> analyzed data from 68 papers sometime in or before 2018 and found that all of them used metric models, but that doesn’t mean it’s still the case today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a483664e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a483664e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 showing two different curves for relationship between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latent mean of a distribution for ordinal values → underlying true difference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observed mean of the ordinal values → data you can see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Curves differ based on the standard deviation/variance used in the underlying distribution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 explain more about the underlying distribution later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thing here is that same value along the x axis is showing the same underlying parameter for the mean (what we care about)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a483664e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a483664e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a483664e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a483664e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a483664e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a483664e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 showing two different curves for relationship between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latent mean of a distribution for ordinal values → underlying true difference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observed mean of the ordinal values → data you can see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Curves differ based on the standard deviation/variance used in the underlying distribution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 explain more about the underlying distribution later on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a483664e2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a483664e2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a483664e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a483664e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a483664e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a483664e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Cutoffs = thresholds between one response and another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between cutoffs is variable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a483664e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a483664e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a483664e2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a483664e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category k, if the value for the continuous variable is greater than tau_k, sequential process can continue on to next category; if not, stop there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a483664e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a483664e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Very similar to sequential models, but instead of modeling transition between one category and all possible greater categories you’re just modeling the transition between one </a:t>
            </a:r>
            <a:r>
              <a:rPr lang="en"/>
              <a:t>category and the immediate next category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a483664e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a483664e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a483664e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a483664e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a483664e2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a483664e2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quick 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ordinal regression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1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PSY 504 – 2/23/2026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Bianca Santi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Likert Scales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244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Rate __ from 1 to 7: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7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356525" y="1893775"/>
            <a:ext cx="492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✔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56525" y="2538132"/>
            <a:ext cx="492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✔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56525" y="2851978"/>
            <a:ext cx="492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✔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756700" y="2009975"/>
            <a:ext cx="4404000" cy="14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 + 4 + 5 = 11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11/3 = 3.67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✅ Average rating is 3.67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Likert Scales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2445000" cy="3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Rate __ from 1 to 7: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✅ Average rating is 3.67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2756700" y="1152475"/>
            <a:ext cx="3108000" cy="3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Rate your happiness: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1 – very sad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2 – moderately sad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3 – slightly sad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4 – neutral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5 – slightly happy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6 – moderately happy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7 – very happy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❓</a:t>
            </a:r>
            <a:r>
              <a:rPr lang="en"/>
              <a:t>Average rating is 3.67 happiness units?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356525" y="1893775"/>
            <a:ext cx="492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✔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56525" y="2538132"/>
            <a:ext cx="492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✔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56525" y="2851978"/>
            <a:ext cx="492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✔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783914" y="1909346"/>
            <a:ext cx="492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✔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783914" y="2553704"/>
            <a:ext cx="492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✔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2783914" y="2867549"/>
            <a:ext cx="492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✔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5864700" y="1152475"/>
            <a:ext cx="3108000" cy="3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Rate your agreement: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1 – strongly disagree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2 – disagree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3 – somewhat disagree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4 – neutral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5 – somewhat agree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6 – agree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7 – strongly agree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❓Average rating is 3.67 agreement units?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5891904" y="1911311"/>
            <a:ext cx="492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✔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891904" y="2555668"/>
            <a:ext cx="492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✔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891904" y="2869514"/>
            <a:ext cx="492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✔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Ordinal data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Ordinal variables: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Have a natural order of categories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Strongly agree &gt; agree &gt; somewhat agree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Distance between variables is unknown and/or may be different across participants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Is (strongly agree - agree) &gt; (somewhat agree &gt; neutral)?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Ordinal data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Ordinal variables: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Have a natural order of categories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Strongly agree &gt; agree &gt; somewhat agree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/>
              <a:t>Distance between categories is unknown and/or may be different across participants</a:t>
            </a:r>
            <a:r>
              <a:rPr lang="en" sz="2000"/>
              <a:t>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Is (strongly agree - agree) &gt; (somewhat agree &gt; neutral)?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5" name="Google Shape;95;p17"/>
          <p:cNvSpPr txBox="1"/>
          <p:nvPr/>
        </p:nvSpPr>
        <p:spPr>
          <a:xfrm>
            <a:off x="311700" y="3673925"/>
            <a:ext cx="8520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→ Can’t use models that assume equal intervals between response levels (metric models)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this matter?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152475"/>
            <a:ext cx="85206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Most (all?) papers that analyze Likert scale data use metric models like t-tests, ANOVA, and ordinary least squares regression (Liddell and Kruschke 2018)</a:t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311700" y="2000275"/>
            <a:ext cx="8520600" cy="3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Ordinal data violates assumption of (1) equal distance </a:t>
            </a:r>
            <a:r>
              <a:rPr lang="en" sz="1800">
                <a:solidFill>
                  <a:schemeClr val="dk2"/>
                </a:solidFill>
              </a:rPr>
              <a:t>between</a:t>
            </a:r>
            <a:r>
              <a:rPr lang="en" sz="1800">
                <a:solidFill>
                  <a:schemeClr val="dk2"/>
                </a:solidFill>
              </a:rPr>
              <a:t> response categories and potentially (2) normal distribution of responses and (3) equal variances across groups/conditions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Using metric models for ordinal data can lead to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Increased rates of false positives (Type I error)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Decreased rates of correct detection (Type II error)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Inversion of effect-size estimates between groups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this matter?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5892900" y="4775100"/>
            <a:ext cx="3251100" cy="36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Liddell and Kruschke (2018)</a:t>
            </a:r>
            <a:endParaRPr sz="1200"/>
          </a:p>
        </p:txBody>
      </p:sp>
      <p:pic>
        <p:nvPicPr>
          <p:cNvPr id="109" name="Google Shape;109;p19" title="Screenshot 2026-02-23 at 08.47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913451" cy="39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this matter?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5225150" y="1559075"/>
            <a:ext cx="3607200" cy="27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 error (false positive):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Same underlying mean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Different ordinal means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Metric model captures differences in the ordinal means → incorrectly gives different estimates for the mean </a:t>
            </a:r>
            <a:endParaRPr/>
          </a:p>
        </p:txBody>
      </p:sp>
      <p:pic>
        <p:nvPicPr>
          <p:cNvPr id="116" name="Google Shape;116;p20" title="Screenshot 2026-02-23 at 08.47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913451" cy="393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3138084" y="1971450"/>
            <a:ext cx="228900" cy="760500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5892900" y="4775100"/>
            <a:ext cx="3251100" cy="36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Liddell and Kruschke (2018)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this matter?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5225150" y="1559075"/>
            <a:ext cx="3607200" cy="27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II error (false negative):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Different underlying means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Same ordinal means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Metric model captures differences in the ordinal means → incorrectly gives the same estimate for the mean</a:t>
            </a:r>
            <a:endParaRPr/>
          </a:p>
        </p:txBody>
      </p:sp>
      <p:pic>
        <p:nvPicPr>
          <p:cNvPr id="125" name="Google Shape;125;p21" title="Screenshot 2026-02-23 at 08.47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913451" cy="393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/>
          <p:nvPr/>
        </p:nvSpPr>
        <p:spPr>
          <a:xfrm rot="-5400000">
            <a:off x="3365559" y="1721968"/>
            <a:ext cx="228900" cy="760500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5892900" y="4775100"/>
            <a:ext cx="3251100" cy="36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Liddell and Kruschke (2018)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this matter?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5225150" y="1559075"/>
            <a:ext cx="3607200" cy="27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Reversed effect sizes: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 &gt; C in latent distribution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 &gt; D for ordinal means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Metric model captures differences in the ordinal means → incorrectly estimates the directionality of the difference </a:t>
            </a:r>
            <a:endParaRPr/>
          </a:p>
        </p:txBody>
      </p:sp>
      <p:pic>
        <p:nvPicPr>
          <p:cNvPr id="134" name="Google Shape;134;p22" title="Screenshot 2026-02-23 at 08.47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913451" cy="393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/>
          <p:nvPr/>
        </p:nvSpPr>
        <p:spPr>
          <a:xfrm rot="-1704760">
            <a:off x="3506777" y="1503055"/>
            <a:ext cx="228869" cy="760445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5892900" y="4775100"/>
            <a:ext cx="3251100" cy="36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Liddell and Kruschke (2018)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this matter?</a:t>
            </a:r>
            <a:endParaRPr/>
          </a:p>
        </p:txBody>
      </p:sp>
      <p:sp>
        <p:nvSpPr>
          <p:cNvPr id="142" name="Google Shape;142;p23"/>
          <p:cNvSpPr txBox="1"/>
          <p:nvPr/>
        </p:nvSpPr>
        <p:spPr>
          <a:xfrm>
            <a:off x="311700" y="1058100"/>
            <a:ext cx="8520600" cy="3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Ordinal data violates assumption of (1) equal distance between response categories and potentially (2) normal distribution of responses and (3) equal variances across groups/conditions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Using metric models for ordinal data can lead to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Increased rates of false positives (Type I error)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Decreased rates of correct detection (Type II error)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Inversion of effect-size estimates between groups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Even when averaging across response items</a:t>
            </a:r>
            <a:endParaRPr i="1" sz="1800">
              <a:solidFill>
                <a:schemeClr val="dk2"/>
              </a:solidFill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311700" y="4199700"/>
            <a:ext cx="85206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→ Need to use </a:t>
            </a:r>
            <a:r>
              <a:rPr b="1" lang="en" sz="1800">
                <a:solidFill>
                  <a:schemeClr val="dk2"/>
                </a:solidFill>
              </a:rPr>
              <a:t>models that account for underlying distribution of ordinal data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Ordinal </a:t>
            </a:r>
            <a:r>
              <a:rPr lang="en"/>
              <a:t>regression</a:t>
            </a:r>
            <a:r>
              <a:rPr lang="en"/>
              <a:t> 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Ordinal regression models</a:t>
            </a:r>
            <a:r>
              <a:rPr lang="en" sz="2200"/>
              <a:t> model discrete ordinal variables that derive from underlying </a:t>
            </a:r>
            <a:r>
              <a:rPr lang="en" sz="2200"/>
              <a:t>distributions</a:t>
            </a:r>
            <a:r>
              <a:rPr lang="en" sz="2200"/>
              <a:t> without assuming equal distances between values</a:t>
            </a:r>
            <a:r>
              <a:rPr lang="en" sz="2400"/>
              <a:t> 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Three classes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Cumulative models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Sequential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Adjacent-category models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Cumulative models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3343650"/>
            <a:ext cx="8520600" cy="14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Observed ordinal variable Y comes from categorization of latent continuous variable Ỹ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Interpret as </a:t>
            </a:r>
            <a:r>
              <a:rPr b="1" lang="en"/>
              <a:t>categorization</a:t>
            </a:r>
            <a:r>
              <a:rPr lang="en"/>
              <a:t> – discrete responses about a possibly continuous psychological variable (e.g., Likert scale data)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5" title="Screenshot 2026-02-23 at 09.25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150" y="1117675"/>
            <a:ext cx="6743702" cy="212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5892900" y="4775100"/>
            <a:ext cx="3251100" cy="36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Bürkner</a:t>
            </a:r>
            <a:r>
              <a:rPr lang="en" sz="1200"/>
              <a:t> and Vuorre (2019)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Cumulative model – ordered probit model</a:t>
            </a:r>
            <a:endParaRPr/>
          </a:p>
        </p:txBody>
      </p:sp>
      <p:pic>
        <p:nvPicPr>
          <p:cNvPr id="163" name="Google Shape;163;p26" title="Screenshot 2026-02-23 at 02.37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0151" y="1369988"/>
            <a:ext cx="4959626" cy="324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 title="Screenshot 2026-02-23 at 02.38.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75" y="1118050"/>
            <a:ext cx="4022776" cy="37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5892900" y="4775100"/>
            <a:ext cx="3251100" cy="36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Liddell and Kruschke (2018)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7" title="Screenshot 2026-02-23 at 09.32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151" y="1117687"/>
            <a:ext cx="6743700" cy="2222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models</a:t>
            </a:r>
            <a:endParaRPr/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11700" y="3343650"/>
            <a:ext cx="8520600" cy="15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every observed category Y there is a latent continuous variable Ỹ that determines the transition between one category and the next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Interpret as </a:t>
            </a:r>
            <a:r>
              <a:rPr b="1" lang="en"/>
              <a:t>sequential process</a:t>
            </a:r>
            <a:r>
              <a:rPr lang="en"/>
              <a:t> – a higher category is only possible if all lower categories have been achieved (e.g., years of marriage before divorce)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5892900" y="4775100"/>
            <a:ext cx="3251100" cy="36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Bürkner and Vuorre (2019)</a:t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8" title="Screenshot 2026-02-23 at 09.37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150" y="1109623"/>
            <a:ext cx="6743699" cy="223875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Adjacent-category models</a:t>
            </a:r>
            <a:endParaRPr/>
          </a:p>
        </p:txBody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311700" y="3343650"/>
            <a:ext cx="8520600" cy="15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every observed category Y there is a latent continuous variable Ỹ that determines the transition between category Y = k and category Y = k +1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</a:t>
            </a:r>
            <a:r>
              <a:rPr lang="en"/>
              <a:t>specific</a:t>
            </a:r>
            <a:r>
              <a:rPr lang="en"/>
              <a:t> interpretation, but more mathematically convenient and allows for modeling of category-specific effects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5892900" y="4775100"/>
            <a:ext cx="3251100" cy="36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Bürkner and Vuorre (2019)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Ordinal regression – considerations </a:t>
            </a:r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Category-specific effects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Different predictors may have different effects for different response categories (e.g., affects likelihood of definitely agree vs agree but not rest)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model category-specific effects by estimating coefficients for each category in adjacent-category and sequential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Unequal variances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Variance of underlying distribution can vary as a function of predictors (e.g., different groups have different variances in ratings)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model unequal variances for all types of ordinal regression models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Ordinal regression – considerations </a:t>
            </a:r>
            <a:endParaRPr/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2200"/>
              <a:t>Bayesian or frequentist statistics?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311700" y="1663700"/>
            <a:ext cx="4260300" cy="30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Bayesian approach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Estimate posterior distribution and </a:t>
            </a:r>
            <a:r>
              <a:rPr lang="en" sz="1600"/>
              <a:t>quantify uncertainty for each parameter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Can be slower (estimation based on MCMC) than decision based on maximum likelihood, but also more informative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brms</a:t>
            </a:r>
            <a:r>
              <a:rPr lang="en" sz="1600"/>
              <a:t> package 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Specify model type with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family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4820200" y="1663700"/>
            <a:ext cx="4260300" cy="30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Frequentist approach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Determine best-fitting parameter values based on maximum likelihood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Obtain p-values for whether parameters are significantly </a:t>
            </a:r>
            <a:r>
              <a:rPr lang="en" sz="1600"/>
              <a:t>different</a:t>
            </a:r>
            <a:r>
              <a:rPr lang="en" sz="1600"/>
              <a:t> from each other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clm()</a:t>
            </a:r>
            <a:r>
              <a:rPr lang="en" sz="1600"/>
              <a:t> function from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ordinal</a:t>
            </a:r>
            <a:r>
              <a:rPr lang="en" sz="1600"/>
              <a:t> package or 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vglm()</a:t>
            </a:r>
            <a:r>
              <a:rPr lang="en" sz="1600"/>
              <a:t> function from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VGAM</a:t>
            </a:r>
            <a:r>
              <a:rPr lang="en" sz="1600"/>
              <a:t> package for cumulative odds models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